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8" r:id="rId11"/>
    <p:sldId id="269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055E3C-AC25-42C1-8F41-121A2DD70866}" v="141" dt="2025-11-03T17:23:02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0D87-DA33-EEBB-176A-2AA64333CC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23EB9-B555-8FBD-068F-0B26F6597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D00D97-4FFD-5636-58DA-5BE9164C1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233A9-FAE7-0E52-A88A-EC6B082E6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CDAC-3D48-F037-11DA-DFD9AA63C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04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74B86-9D76-A832-D72B-79467DD3F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6BB81-6272-0936-E577-589648FB8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778D54-4D1F-816F-266B-27F8263F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E8CDC-F896-4B9C-BA3D-DFDC64EF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9D66CD-8B14-50EB-A25A-EDEF818E4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978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F794B-58C9-A21D-021A-34CCAC05D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1869F-3574-EC1F-4F87-BC12E56D9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EE6A4-B4D0-FA4D-2F1E-A1DC84CF4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C2EB2-819A-F116-FFF4-D043875AC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743A8-515B-2293-07F0-E921A2867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3833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2CA8-239B-391E-8C5B-A07F977DF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C7ED-0DD8-D402-CB57-77504B45B9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CB3F01-49CF-3EE7-1C12-F2773E5579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083AA5-4420-828D-7CE1-EC7D32D25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AAF9C6-AAFA-8C9E-97A8-05DC99D05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7D8FFD-6E9C-7D6D-A6F3-3A97E8FF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629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508F-2EEC-1ECE-4D94-3598577FD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D350D-285B-2037-AF2D-906C38034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6CFC07-CC6E-D33C-1C0F-564DB9AC89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FEAEC8-6121-AA37-23E0-61526504B8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5C1F5D-347C-8EB1-4A7C-C2A995E5A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EA7063-28C5-43E3-7A15-8B6D7FCCF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05A40-A397-E2CB-A5FA-C4617A66D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12D2AD-78E8-9011-114E-D272E5201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58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32B3C-C6A6-A3E4-EF2B-CABA44AEA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77EA3-F99F-8808-3A1F-9BFE6F895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8B6F01-ECAE-0C94-E8DD-8C14918C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7FBE57-E4D0-C47A-D97F-60E36F1D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30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A5EF19-EBC3-A65B-3E31-FE560139D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992CE6-4BDC-0435-AAB9-9DA0D01B9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BCD67-7B45-1646-10C8-E001555BF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486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3E963-58CD-593D-6590-843161B77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D4765C-0D9E-C90E-1748-28314CB9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4D980-5F92-CBA1-70A2-D47CC9655A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25D87-862A-C93C-E107-F5AB81A45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B9075B-9768-429A-0818-704C7B44B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CE735C-C858-E94F-B685-7BE52B363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445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4B998-7799-4B5A-46A4-DA8F966E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B5EF51-2C44-4BBB-4EF4-FAFDAEE53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D17AF8-949E-7A49-E3E7-D5163F04D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5A64A5-B0F1-3CDE-A89F-2454E09AA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64B5DE-EAB2-7D5B-0ADE-A1507A99D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9ECE6-FF5A-DE24-BB6A-7E6A17BC5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480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0FA3-18CA-D38A-2064-10E89110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87ABAC-87D9-2EB8-D805-39615B0BE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ECD12-E5AE-49B8-9ED3-DC443C302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68A4D-E96B-C772-944F-153C3B0B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BA2C5-1126-E37F-806F-45C1FF60F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8425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86B676-325D-FEFB-04FA-A9766A641E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FA78E8-DC1A-DE7D-87B5-7CD2DEF14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7BFF42-1165-D058-C58D-B93869E6B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66F6-C637-C8DE-C23E-8A2B0C92B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471F58-6075-E7EF-6C03-4B4B12F0D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518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02D172-E532-09AE-29BC-50B87A0F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E2F2F-F6A2-281C-B594-D5156E747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FBC8-0FD6-81BE-CA58-4407484A6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4DC9CC-9F74-45D2-BB8E-D1B9A53DDD77}" type="datetimeFigureOut">
              <a:rPr lang="en-IN" smtClean="0"/>
              <a:t>18-04-2026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5CA17-6896-47BA-78DC-F95CE842A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93B2E-28D1-8D1B-6A83-B3DB4A8A0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4F35D7-CA5C-4181-A694-6171B2B784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616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5A1935-EF79-C460-DD52-77D9E2AA0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3578" y="924678"/>
            <a:ext cx="5786232" cy="2207324"/>
          </a:xfrm>
        </p:spPr>
        <p:txBody>
          <a:bodyPr>
            <a:normAutofit fontScale="90000"/>
          </a:bodyPr>
          <a:lstStyle/>
          <a:p>
            <a:pPr algn="just"/>
            <a:r>
              <a:rPr lang="en-IN" sz="5400" dirty="0">
                <a:solidFill>
                  <a:schemeClr val="bg1"/>
                </a:solidFill>
              </a:rPr>
              <a:t>IoT Smart Monitoring System for Refrigeration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D1186D-8105-6933-0CB5-A25071F62B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4999" y="3303785"/>
            <a:ext cx="5923266" cy="3272526"/>
          </a:xfrm>
        </p:spPr>
        <p:txBody>
          <a:bodyPr>
            <a:normAutofit/>
          </a:bodyPr>
          <a:lstStyle/>
          <a:p>
            <a:pPr algn="l"/>
            <a:br>
              <a:rPr lang="en-IN" sz="2000" dirty="0">
                <a:solidFill>
                  <a:schemeClr val="bg1"/>
                </a:solidFill>
              </a:rPr>
            </a:br>
            <a:r>
              <a:rPr lang="en-IN" sz="2000" dirty="0">
                <a:solidFill>
                  <a:schemeClr val="bg1"/>
                </a:solidFill>
              </a:rPr>
              <a:t>CH Vamsee Krishna</a:t>
            </a:r>
            <a:br>
              <a:rPr lang="en-IN" sz="2000" dirty="0">
                <a:solidFill>
                  <a:schemeClr val="bg1"/>
                </a:solidFill>
              </a:rPr>
            </a:b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0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096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0012D-0A8A-FFF4-4B39-8A6202153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Project Objective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471A6-2E93-996A-64BB-D95A2A8CE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dirty="0">
                <a:solidFill>
                  <a:schemeClr val="bg1"/>
                </a:solidFill>
              </a:rPr>
              <a:t>The primary technical objective is to design and build a connected, real-time monitoring system. This system is capable of: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Sensing</a:t>
            </a:r>
            <a:r>
              <a:rPr lang="en-US" sz="2000" dirty="0">
                <a:solidFill>
                  <a:schemeClr val="bg1"/>
                </a:solidFill>
              </a:rPr>
              <a:t> critical environmental parameters: door status, spoilage-related gases, and external gas leaks.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Processing</a:t>
            </a:r>
            <a:r>
              <a:rPr lang="en-US" sz="2000" dirty="0">
                <a:solidFill>
                  <a:schemeClr val="bg1"/>
                </a:solidFill>
              </a:rPr>
              <a:t> sensor data locally to determine if an alarm state is met.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Actuating</a:t>
            </a:r>
            <a:r>
              <a:rPr lang="en-US" sz="2000" dirty="0">
                <a:solidFill>
                  <a:schemeClr val="bg1"/>
                </a:solidFill>
              </a:rPr>
              <a:t> both a local, audible alarm and a remote, instant mobile notification.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Logging</a:t>
            </a:r>
            <a:r>
              <a:rPr lang="en-US" sz="2000" dirty="0">
                <a:solidFill>
                  <a:schemeClr val="bg1"/>
                </a:solidFill>
              </a:rPr>
              <a:t> all sensor data to a cloud platform for live visualization and historical analysis.</a:t>
            </a: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825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F62513-5AB0-4E58-9621-F3EEE0890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Components Used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EB8AF-51BC-2181-3E10-8CD890B48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141534"/>
            <a:ext cx="10382865" cy="4505063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IN" sz="2600" b="1" dirty="0">
                <a:solidFill>
                  <a:schemeClr val="bg1"/>
                </a:solidFill>
              </a:rPr>
              <a:t>Microcontroller:</a:t>
            </a:r>
            <a:r>
              <a:rPr lang="en-IN" sz="2600" dirty="0">
                <a:solidFill>
                  <a:schemeClr val="bg1"/>
                </a:solidFill>
              </a:rPr>
              <a:t> </a:t>
            </a:r>
            <a:r>
              <a:rPr lang="en-IN" sz="2600" b="1" dirty="0">
                <a:solidFill>
                  <a:schemeClr val="bg1"/>
                </a:solidFill>
              </a:rPr>
              <a:t>ESP32</a:t>
            </a:r>
            <a:endParaRPr lang="en-IN" sz="2600" dirty="0">
              <a:solidFill>
                <a:schemeClr val="bg1"/>
              </a:solidFill>
            </a:endParaRPr>
          </a:p>
          <a:p>
            <a:pPr lvl="1" algn="just"/>
            <a:r>
              <a:rPr lang="en-IN" dirty="0">
                <a:solidFill>
                  <a:schemeClr val="bg1"/>
                </a:solidFill>
              </a:rPr>
              <a:t>Chosen for its built-in Wi-Fi, multiple analog-to-digital converter (ADC) pins, and processing power.</a:t>
            </a:r>
          </a:p>
          <a:p>
            <a:pPr algn="just"/>
            <a:r>
              <a:rPr lang="en-IN" sz="2600" b="1" dirty="0">
                <a:solidFill>
                  <a:schemeClr val="bg1"/>
                </a:solidFill>
              </a:rPr>
              <a:t>Prototyping:</a:t>
            </a:r>
            <a:endParaRPr lang="en-IN" sz="2600" dirty="0">
              <a:solidFill>
                <a:schemeClr val="bg1"/>
              </a:solidFill>
            </a:endParaRP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Solderless Breadboard:</a:t>
            </a:r>
            <a:r>
              <a:rPr lang="en-IN" dirty="0">
                <a:solidFill>
                  <a:schemeClr val="bg1"/>
                </a:solidFill>
              </a:rPr>
              <a:t> The base for building and testing the prototype circuit without permanent soldering.</a:t>
            </a:r>
          </a:p>
          <a:p>
            <a:pPr algn="just"/>
            <a:r>
              <a:rPr lang="en-IN" sz="2600" b="1" dirty="0">
                <a:solidFill>
                  <a:schemeClr val="bg1"/>
                </a:solidFill>
              </a:rPr>
              <a:t>Sensors (Input):</a:t>
            </a:r>
            <a:endParaRPr lang="en-IN" sz="2600" dirty="0">
              <a:solidFill>
                <a:schemeClr val="bg1"/>
              </a:solidFill>
            </a:endParaRP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MQ-3 Alcohol Sensor:</a:t>
            </a:r>
            <a:r>
              <a:rPr lang="en-IN" dirty="0">
                <a:solidFill>
                  <a:schemeClr val="bg1"/>
                </a:solidFill>
              </a:rPr>
              <a:t> Detects ethanol vapours (spoilage).</a:t>
            </a: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MQ-2 Gas Sensor:</a:t>
            </a:r>
            <a:r>
              <a:rPr lang="en-IN" dirty="0">
                <a:solidFill>
                  <a:schemeClr val="bg1"/>
                </a:solidFill>
              </a:rPr>
              <a:t> Detects LPG, methane, and smoke (gas leak).</a:t>
            </a: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Light Dependent Resistor (LDR):</a:t>
            </a:r>
            <a:r>
              <a:rPr lang="en-IN" dirty="0">
                <a:solidFill>
                  <a:schemeClr val="bg1"/>
                </a:solidFill>
              </a:rPr>
              <a:t> Detects light to determine door status.</a:t>
            </a:r>
          </a:p>
          <a:p>
            <a:pPr algn="just"/>
            <a:r>
              <a:rPr lang="en-IN" sz="2600" b="1" dirty="0">
                <a:solidFill>
                  <a:schemeClr val="bg1"/>
                </a:solidFill>
              </a:rPr>
              <a:t>Actuators &amp; Indicators (Output):</a:t>
            </a:r>
            <a:endParaRPr lang="en-IN" sz="2600" dirty="0">
              <a:solidFill>
                <a:schemeClr val="bg1"/>
              </a:solidFill>
            </a:endParaRP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Active Buzzer:</a:t>
            </a:r>
            <a:r>
              <a:rPr lang="en-IN" dirty="0">
                <a:solidFill>
                  <a:schemeClr val="bg1"/>
                </a:solidFill>
              </a:rPr>
              <a:t> Provides an audible alarm.</a:t>
            </a: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5mm LEDs (Red &amp; Green):</a:t>
            </a:r>
            <a:r>
              <a:rPr lang="en-IN" dirty="0">
                <a:solidFill>
                  <a:schemeClr val="bg1"/>
                </a:solidFill>
              </a:rPr>
              <a:t> Provide a visual indicator of system status.</a:t>
            </a:r>
          </a:p>
          <a:p>
            <a:pPr algn="just"/>
            <a:r>
              <a:rPr lang="en-IN" sz="2600" b="1" dirty="0">
                <a:solidFill>
                  <a:schemeClr val="bg1"/>
                </a:solidFill>
              </a:rPr>
              <a:t>Passive Components:</a:t>
            </a:r>
            <a:endParaRPr lang="en-IN" sz="2600" dirty="0">
              <a:solidFill>
                <a:schemeClr val="bg1"/>
              </a:solidFill>
            </a:endParaRP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10k</a:t>
            </a:r>
            <a:r>
              <a:rPr lang="el-GR" b="1" dirty="0">
                <a:solidFill>
                  <a:schemeClr val="bg1"/>
                </a:solidFill>
              </a:rPr>
              <a:t>Ω </a:t>
            </a:r>
            <a:r>
              <a:rPr lang="en-IN" b="1" dirty="0">
                <a:solidFill>
                  <a:schemeClr val="bg1"/>
                </a:solidFill>
              </a:rPr>
              <a:t>Resistor:</a:t>
            </a:r>
            <a:r>
              <a:rPr lang="en-IN" dirty="0">
                <a:solidFill>
                  <a:schemeClr val="bg1"/>
                </a:solidFill>
              </a:rPr>
              <a:t> Used as a pull-down resistor in the LDR's voltage divider circuit, ensuring a stable "dark" reading.</a:t>
            </a:r>
          </a:p>
          <a:p>
            <a:pPr lvl="1" algn="just"/>
            <a:r>
              <a:rPr lang="en-IN" b="1" dirty="0">
                <a:solidFill>
                  <a:schemeClr val="bg1"/>
                </a:solidFill>
              </a:rPr>
              <a:t>220</a:t>
            </a:r>
            <a:r>
              <a:rPr lang="el-GR" b="1" dirty="0">
                <a:solidFill>
                  <a:schemeClr val="bg1"/>
                </a:solidFill>
              </a:rPr>
              <a:t>Ω </a:t>
            </a:r>
            <a:r>
              <a:rPr lang="en-IN" b="1" dirty="0">
                <a:solidFill>
                  <a:schemeClr val="bg1"/>
                </a:solidFill>
              </a:rPr>
              <a:t>Resistors (x2):</a:t>
            </a:r>
            <a:r>
              <a:rPr lang="en-IN" dirty="0">
                <a:solidFill>
                  <a:schemeClr val="bg1"/>
                </a:solidFill>
              </a:rPr>
              <a:t> Act as current-limiting resistors for the red and green LEDs, protecting them from the ESP32's 3.3V output.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40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88809E-4C65-2D58-62C3-C8A99E243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10" y="669925"/>
            <a:ext cx="482603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System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C4476F8-8CC8-A3FA-C18B-DF0F9135CFE5}"/>
              </a:ext>
            </a:extLst>
          </p:cNvPr>
          <p:cNvGrpSpPr/>
          <p:nvPr/>
        </p:nvGrpSpPr>
        <p:grpSpPr>
          <a:xfrm>
            <a:off x="7512840" y="557009"/>
            <a:ext cx="3302644" cy="3848796"/>
            <a:chOff x="7512840" y="557009"/>
            <a:chExt cx="4552950" cy="556668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37B5864-6B39-94C5-E718-31D78BCABBC3}"/>
                </a:ext>
              </a:extLst>
            </p:cNvPr>
            <p:cNvGrpSpPr/>
            <p:nvPr/>
          </p:nvGrpSpPr>
          <p:grpSpPr>
            <a:xfrm>
              <a:off x="7512840" y="557009"/>
              <a:ext cx="4552950" cy="5566686"/>
              <a:chOff x="161925" y="969963"/>
              <a:chExt cx="4552950" cy="5566686"/>
            </a:xfrm>
          </p:grpSpPr>
          <p:pic>
            <p:nvPicPr>
              <p:cNvPr id="5" name="Picture 13" descr="ESP32 WROOM-32 Development Board">
                <a:extLst>
                  <a:ext uri="{FF2B5EF4-FFF2-40B4-BE49-F238E27FC236}">
                    <a16:creationId xmlns:a16="http://schemas.microsoft.com/office/drawing/2014/main" id="{7EE52360-9680-8EF1-727B-6FDB55A0883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4423" r="12500"/>
              <a:stretch>
                <a:fillRect/>
              </a:stretch>
            </p:blipFill>
            <p:spPr bwMode="auto">
              <a:xfrm>
                <a:off x="1414463" y="2809875"/>
                <a:ext cx="1138237" cy="1155700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" name="Picture 15" descr="LDR (Light Dependent Resistor) | Electrical Bro">
                <a:extLst>
                  <a:ext uri="{FF2B5EF4-FFF2-40B4-BE49-F238E27FC236}">
                    <a16:creationId xmlns:a16="http://schemas.microsoft.com/office/drawing/2014/main" id="{6A8885E0-2779-62A9-686D-90EDF74438D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935" r="19707"/>
              <a:stretch>
                <a:fillRect/>
              </a:stretch>
            </p:blipFill>
            <p:spPr bwMode="auto">
              <a:xfrm>
                <a:off x="252413" y="2646363"/>
                <a:ext cx="519112" cy="992187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" name="Picture 17" descr="Buy MilesMagic Magician’s Close Up Comedy Magic Lamp LED Glow in Hand,  Magical Push Button Model Gimmick Prop Battery Light Bulb for Stage Street  ...">
                <a:extLst>
                  <a:ext uri="{FF2B5EF4-FFF2-40B4-BE49-F238E27FC236}">
                    <a16:creationId xmlns:a16="http://schemas.microsoft.com/office/drawing/2014/main" id="{B4D80728-2EFC-21D6-0D10-5D9D1BFAA0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8438" y="1076325"/>
                <a:ext cx="850900" cy="8493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9">
                <a:extLst>
                  <a:ext uri="{FF2B5EF4-FFF2-40B4-BE49-F238E27FC236}">
                    <a16:creationId xmlns:a16="http://schemas.microsoft.com/office/drawing/2014/main" id="{2EDEB633-5844-1EFD-B209-FE00C046C5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82" t="25758" r="21152" b="22728"/>
              <a:stretch>
                <a:fillRect/>
              </a:stretch>
            </p:blipFill>
            <p:spPr bwMode="auto">
              <a:xfrm>
                <a:off x="222250" y="4476750"/>
                <a:ext cx="409575" cy="1371600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21" descr="Buy 5V Piezo Buzzer B 10N (Pack of 5) Online At Best Price in India -  Robomart">
                <a:extLst>
                  <a:ext uri="{FF2B5EF4-FFF2-40B4-BE49-F238E27FC236}">
                    <a16:creationId xmlns:a16="http://schemas.microsoft.com/office/drawing/2014/main" id="{8AC9C394-233B-2EAC-53D9-83707614948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78" b="9406"/>
              <a:stretch>
                <a:fillRect/>
              </a:stretch>
            </p:blipFill>
            <p:spPr bwMode="auto">
              <a:xfrm>
                <a:off x="774700" y="4454525"/>
                <a:ext cx="1023938" cy="998538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3" descr="What is a Push Notification and Why Do They Matter?">
                <a:extLst>
                  <a:ext uri="{FF2B5EF4-FFF2-40B4-BE49-F238E27FC236}">
                    <a16:creationId xmlns:a16="http://schemas.microsoft.com/office/drawing/2014/main" id="{A1DE9BC2-374E-7183-B73F-18727D0FA1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334" r="29375"/>
              <a:stretch>
                <a:fillRect/>
              </a:stretch>
            </p:blipFill>
            <p:spPr bwMode="auto">
              <a:xfrm>
                <a:off x="1949450" y="4549775"/>
                <a:ext cx="1136650" cy="1346200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12">
                <a:extLst>
                  <a:ext uri="{FF2B5EF4-FFF2-40B4-BE49-F238E27FC236}">
                    <a16:creationId xmlns:a16="http://schemas.microsoft.com/office/drawing/2014/main" id="{91F6DBE6-8D7E-2A27-9819-99F8EEC194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43025" y="969963"/>
                <a:ext cx="3371850" cy="1284287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5" descr="MQ-135 Gas Sensor">
                <a:extLst>
                  <a:ext uri="{FF2B5EF4-FFF2-40B4-BE49-F238E27FC236}">
                    <a16:creationId xmlns:a16="http://schemas.microsoft.com/office/drawing/2014/main" id="{11450800-D750-3316-CF56-186542A6D42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0277" t="24316" r="17474" b="21111"/>
              <a:stretch>
                <a:fillRect/>
              </a:stretch>
            </p:blipFill>
            <p:spPr bwMode="auto">
              <a:xfrm>
                <a:off x="3232150" y="2557462"/>
                <a:ext cx="1428750" cy="1252538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D48CF487-8FAE-0F17-BC98-7B5482D17F57}"/>
                  </a:ext>
                </a:extLst>
              </p:cNvPr>
              <p:cNvCxnSpPr>
                <a:cxnSpLocks/>
                <a:endCxn id="6" idx="0"/>
              </p:cNvCxnSpPr>
              <p:nvPr/>
            </p:nvCxnSpPr>
            <p:spPr>
              <a:xfrm flipH="1">
                <a:off x="512763" y="2120900"/>
                <a:ext cx="52387" cy="525463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EF389B0-A6C2-15CD-CF72-693C115222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71525" y="3200400"/>
                <a:ext cx="642938" cy="7620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454E3882-51FB-7282-BC3C-2F7A995DD92E}"/>
                  </a:ext>
                </a:extLst>
              </p:cNvPr>
              <p:cNvCxnSpPr>
                <a:cxnSpLocks/>
                <a:endCxn id="9" idx="3"/>
              </p:cNvCxnSpPr>
              <p:nvPr/>
            </p:nvCxnSpPr>
            <p:spPr>
              <a:xfrm flipH="1">
                <a:off x="427038" y="3952875"/>
                <a:ext cx="974725" cy="523875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BBC6E4E1-65AD-9723-B09A-539555C41D31}"/>
                  </a:ext>
                </a:extLst>
              </p:cNvPr>
              <p:cNvCxnSpPr>
                <a:cxnSpLocks/>
                <a:endCxn id="11" idx="0"/>
              </p:cNvCxnSpPr>
              <p:nvPr/>
            </p:nvCxnSpPr>
            <p:spPr>
              <a:xfrm flipH="1">
                <a:off x="1285875" y="3965575"/>
                <a:ext cx="512763" cy="48895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07000B9B-AA6C-E567-D0F4-CE7481346339}"/>
                  </a:ext>
                </a:extLst>
              </p:cNvPr>
              <p:cNvCxnSpPr>
                <a:cxnSpLocks/>
                <a:endCxn id="13" idx="0"/>
              </p:cNvCxnSpPr>
              <p:nvPr/>
            </p:nvCxnSpPr>
            <p:spPr>
              <a:xfrm>
                <a:off x="2278063" y="3989388"/>
                <a:ext cx="239712" cy="560387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8001F637-B495-6725-FE36-5C32B8A65662}"/>
                  </a:ext>
                </a:extLst>
              </p:cNvPr>
              <p:cNvCxnSpPr>
                <a:cxnSpLocks/>
                <a:endCxn id="15" idx="0"/>
              </p:cNvCxnSpPr>
              <p:nvPr/>
            </p:nvCxnSpPr>
            <p:spPr>
              <a:xfrm>
                <a:off x="3660775" y="2208212"/>
                <a:ext cx="285750" cy="34925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" name="TextBox 48">
                <a:extLst>
                  <a:ext uri="{FF2B5EF4-FFF2-40B4-BE49-F238E27FC236}">
                    <a16:creationId xmlns:a16="http://schemas.microsoft.com/office/drawing/2014/main" id="{EA180AD0-7552-67B4-AF60-2AB75D91077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1925" y="1892300"/>
                <a:ext cx="1123950" cy="3672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1000" dirty="0">
                    <a:solidFill>
                      <a:schemeClr val="bg1"/>
                    </a:solidFill>
                  </a:rPr>
                  <a:t>Fridge Light</a:t>
                </a:r>
              </a:p>
            </p:txBody>
          </p:sp>
          <p:sp>
            <p:nvSpPr>
              <p:cNvPr id="25" name="TextBox 52">
                <a:extLst>
                  <a:ext uri="{FF2B5EF4-FFF2-40B4-BE49-F238E27FC236}">
                    <a16:creationId xmlns:a16="http://schemas.microsoft.com/office/drawing/2014/main" id="{7373C478-0875-3924-6670-E92CA90CA2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9901" y="5913438"/>
                <a:ext cx="2216150" cy="623211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1050" dirty="0">
                    <a:solidFill>
                      <a:schemeClr val="bg1"/>
                    </a:solidFill>
                  </a:rPr>
                  <a:t>Alerts: LED, Buzzer, Mobile Notifications</a:t>
                </a:r>
              </a:p>
            </p:txBody>
          </p:sp>
          <p:sp>
            <p:nvSpPr>
              <p:cNvPr id="26" name="TextBox 53">
                <a:extLst>
                  <a:ext uri="{FF2B5EF4-FFF2-40B4-BE49-F238E27FC236}">
                    <a16:creationId xmlns:a16="http://schemas.microsoft.com/office/drawing/2014/main" id="{200F8C61-F771-B3B8-F3B5-F1F8143114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7555" y="2601913"/>
                <a:ext cx="822325" cy="66772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800" dirty="0">
                    <a:solidFill>
                      <a:schemeClr val="bg1"/>
                    </a:solidFill>
                  </a:rPr>
                  <a:t>Gas Sensor triggered</a:t>
                </a:r>
              </a:p>
            </p:txBody>
          </p:sp>
          <p:sp>
            <p:nvSpPr>
              <p:cNvPr id="27" name="TextBox 54">
                <a:extLst>
                  <a:ext uri="{FF2B5EF4-FFF2-40B4-BE49-F238E27FC236}">
                    <a16:creationId xmlns:a16="http://schemas.microsoft.com/office/drawing/2014/main" id="{05F32F18-A757-3F61-91F3-784AEAB02B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26" y="3581399"/>
                <a:ext cx="561976" cy="37837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1100" dirty="0">
                    <a:solidFill>
                      <a:schemeClr val="bg1"/>
                    </a:solidFill>
                  </a:rPr>
                  <a:t>LDR</a:t>
                </a:r>
                <a:endParaRPr lang="en-IN" altLang="en-US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TextBox 55">
                <a:extLst>
                  <a:ext uri="{FF2B5EF4-FFF2-40B4-BE49-F238E27FC236}">
                    <a16:creationId xmlns:a16="http://schemas.microsoft.com/office/drawing/2014/main" id="{98901B5C-8BCB-F23F-4709-6E302E9BDE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5325" y="3810000"/>
                <a:ext cx="1393824" cy="333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900" dirty="0">
                    <a:solidFill>
                      <a:schemeClr val="bg1"/>
                    </a:solidFill>
                  </a:rPr>
                  <a:t>MQ Gas Sensor</a:t>
                </a:r>
              </a:p>
            </p:txBody>
          </p:sp>
          <p:sp>
            <p:nvSpPr>
              <p:cNvPr id="29" name="TextBox 57">
                <a:extLst>
                  <a:ext uri="{FF2B5EF4-FFF2-40B4-BE49-F238E27FC236}">
                    <a16:creationId xmlns:a16="http://schemas.microsoft.com/office/drawing/2014/main" id="{BE517037-B7C9-64B7-336D-15487747A6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5439" y="2485105"/>
                <a:ext cx="733425" cy="333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r>
                  <a:rPr lang="en-IN" altLang="en-US" sz="900" dirty="0">
                    <a:solidFill>
                      <a:schemeClr val="bg1"/>
                    </a:solidFill>
                  </a:rPr>
                  <a:t>ESP-32</a:t>
                </a:r>
                <a:endParaRPr lang="en-IN" altLang="en-US" sz="14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6F4C177-9607-25E0-EDA0-FD14BC46D484}"/>
                </a:ext>
              </a:extLst>
            </p:cNvPr>
            <p:cNvSpPr txBox="1"/>
            <p:nvPr/>
          </p:nvSpPr>
          <p:spPr>
            <a:xfrm>
              <a:off x="8071948" y="2414812"/>
              <a:ext cx="780435" cy="4451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IN" sz="700" dirty="0">
                  <a:solidFill>
                    <a:schemeClr val="bg1"/>
                  </a:solidFill>
                </a:rPr>
                <a:t>LDR triggered</a:t>
              </a:r>
            </a:p>
          </p:txBody>
        </p:sp>
      </p:grpSp>
      <p:sp>
        <p:nvSpPr>
          <p:cNvPr id="37" name="Rectangle 2">
            <a:extLst>
              <a:ext uri="{FF2B5EF4-FFF2-40B4-BE49-F238E27FC236}">
                <a16:creationId xmlns:a16="http://schemas.microsoft.com/office/drawing/2014/main" id="{E5FA1AB3-AEDA-F7F6-F045-876DFEBE82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794" y="2129623"/>
            <a:ext cx="6888696" cy="45858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Input (Sensors):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LDR (Door)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MQ-3 (Spoilage)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MQ-2 (Gas Leak)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Processing (ESP32):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ESP32 reads analog data from all sensors.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compares readings to pre-set thresholds.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It manages Wi-Fi connectivity.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Local Output (Actuators):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Buzzer (Alarm)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Red/Green LEDs (Status)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Cloud &amp; Remote Output: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ESP32 sends data via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Wi-Fi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to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ThingSpeak Cloud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ThingSpeak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logs the data and (using its "React" app) triggers a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Pushbullet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API call.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Pushbullet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sends a final push notification to the user's mobile device.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B495C8A-5141-FEF7-DA5E-04E82610C6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15711" y="4402363"/>
            <a:ext cx="2342124" cy="1993529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6E7D316-DB6B-6E13-CC42-1BB915DE6C0A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9247074" y="2087604"/>
            <a:ext cx="492863" cy="14104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608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590B1C-CFB9-8E76-4BB8-67FBACE06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669925"/>
            <a:ext cx="5754333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Hardware Implementation: Wiring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B90D06-725C-23B2-65A0-D033E562AA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0542" y="2186811"/>
            <a:ext cx="9212826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Power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All sensors and LEDs share a common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and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3.3V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rail from the ESP32.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Sensor Analog Outputs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LDR (A0)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34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(ADC1_CH6)</a:t>
            </a:r>
            <a:r>
              <a:rPr kumimoji="0" lang="en-US" altLang="en-US" sz="2000" b="0" i="0" u="none" strike="noStrike" cap="none" normalizeH="0" baseline="3000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6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MQ-3 (A0)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35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(ADC1_CH7)</a:t>
            </a:r>
            <a:endParaRPr lang="en-US" altLang="en-US" sz="2000" dirty="0">
              <a:solidFill>
                <a:schemeClr val="bg1"/>
              </a:solidFill>
              <a:latin typeface="Google Sans Text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MQ-2 (A0)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32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(ADC1_CH4)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Actuator Digital Outputs: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Green LED (+)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4</a:t>
            </a:r>
            <a:endParaRPr lang="en-US" altLang="en-US" sz="2000" dirty="0">
              <a:solidFill>
                <a:schemeClr val="bg1"/>
              </a:solidFill>
              <a:latin typeface="Google Sans Text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Red LED (+)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2</a:t>
            </a:r>
            <a:endParaRPr lang="en-US" altLang="en-US" sz="2000" dirty="0">
              <a:solidFill>
                <a:schemeClr val="bg1"/>
              </a:solidFill>
              <a:latin typeface="Google Sans Text"/>
            </a:endParaRPr>
          </a:p>
          <a:p>
            <a:pPr marL="342900" lvl="0" indent="-34290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Buzzer (+)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  <a:sym typeface="Wingdings" panose="05000000000000000000" pitchFamily="2" charset="2"/>
              </a:rPr>
              <a:t>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GPIO 27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50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9DE97-E256-325F-C12C-C58D3DCF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System Logic &amp; Thresholds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9633678-059B-CAE2-CAC8-4F476A039F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9042135"/>
              </p:ext>
            </p:extLst>
          </p:nvPr>
        </p:nvGraphicFramePr>
        <p:xfrm>
          <a:off x="838201" y="2399071"/>
          <a:ext cx="10515597" cy="14782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6639951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8922045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1793947"/>
                    </a:ext>
                  </a:extLst>
                </a:gridCol>
              </a:tblGrid>
              <a:tr h="269342">
                <a:tc>
                  <a:txBody>
                    <a:bodyPr/>
                    <a:lstStyle/>
                    <a:p>
                      <a:r>
                        <a:rPr lang="en-IN" dirty="0"/>
                        <a:t>Alarm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Trigger 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Threshold(not fixed)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057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Gas Leak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&gt;650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37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Spoilage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&gt;2000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121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Door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LDR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&gt;1000, 30s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893426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8AA1D3-0E84-BF0E-D9C8-4D492124975D}"/>
              </a:ext>
            </a:extLst>
          </p:cNvPr>
          <p:cNvSpPr txBox="1"/>
          <p:nvPr/>
        </p:nvSpPr>
        <p:spPr>
          <a:xfrm>
            <a:off x="838200" y="4250081"/>
            <a:ext cx="1009527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Prioritization: The logic checks for alarms in order of severity. A Gas Leak (Alarm 3) will override a Spoilage (Alarm 2) or Door (Alarm 1) alarm to ensure the most critical alert is sent.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Alarm State: A single integer variable (alarmState) is used to track the system status (0=OK, 1=Door, 2=Spoilage, 3=Gas).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238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CC889-1881-D2E8-7D80-7701C5A60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Cloud Integration: ThingSpeak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9148C6-9F58-D22B-8D49-6C041DFD9C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41534"/>
            <a:ext cx="1099875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ThingSpeak.com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serves as the project's cloud-based IoT platform.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It is used to log and visualize the sensor data sent from the ESP32.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Mechanism: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ESP32 connects to Wi-Fi and uses the ThingSpeak library.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On every alarm or once per minute, the device makes an HTTP POST request to the ThingSpeak</a:t>
            </a:r>
            <a:r>
              <a:rPr lang="en-US" altLang="en-US" sz="1800" dirty="0">
                <a:solidFill>
                  <a:schemeClr val="bg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API, using a unique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Write API Key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The request populates four data fields on the channel.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Channel Fields: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Field 1: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LDR Value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Field 2: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Spoilage (MQ-3) Value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Field 3: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Alarm Status (0, 1, 2, or 3)</a:t>
            </a:r>
          </a:p>
          <a:p>
            <a:pPr marL="457200" marR="0" lvl="1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Field 4: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Gas (MQ-2) Value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This data is automatically plotted on time-series graphs in the channel's "Private View," providing a live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619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F7CB8-A5BD-BCE9-03E2-FD01D758B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Real-Time Alerts: Pushbullet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838D0-33BE-2702-ED36-B68F5583D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8956"/>
            <a:ext cx="10763865" cy="4050997"/>
          </a:xfrm>
        </p:spPr>
        <p:txBody>
          <a:bodyPr>
            <a:normAutofit fontScale="77500" lnSpcReduction="20000"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Pushbullet is the service used to bridge the gap from a cloud event to an instant mobile notification.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Function:</a:t>
            </a:r>
            <a:r>
              <a:rPr lang="en-US" sz="2600" dirty="0">
                <a:solidFill>
                  <a:schemeClr val="bg1"/>
                </a:solidFill>
              </a:rPr>
              <a:t> To send a specific, low-latency alert to a mobile phone when an alarm is triggered.</a:t>
            </a:r>
          </a:p>
          <a:p>
            <a:r>
              <a:rPr lang="en-US" sz="2600" b="1" dirty="0">
                <a:solidFill>
                  <a:schemeClr val="bg1"/>
                </a:solidFill>
              </a:rPr>
              <a:t>Mechanism (Event-Driven):</a:t>
            </a:r>
            <a:endParaRPr lang="en-US" sz="2600" dirty="0">
              <a:solidFill>
                <a:schemeClr val="bg1"/>
              </a:solidFill>
            </a:endParaRP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We use the </a:t>
            </a:r>
            <a:r>
              <a:rPr lang="en-US" sz="2600" b="1" dirty="0">
                <a:solidFill>
                  <a:schemeClr val="bg1"/>
                </a:solidFill>
              </a:rPr>
              <a:t>ThingSpeak "React" App</a:t>
            </a:r>
            <a:r>
              <a:rPr lang="en-US" sz="2600" dirty="0">
                <a:solidFill>
                  <a:schemeClr val="bg1"/>
                </a:solidFill>
              </a:rPr>
              <a:t> to watch the "Alarm Status" (Field 3).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Three separate "Reacts" are created:</a:t>
            </a: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React 1: Triggers if Field 3 = </a:t>
            </a:r>
            <a:r>
              <a:rPr lang="en-US" sz="2600" b="1" dirty="0">
                <a:solidFill>
                  <a:schemeClr val="bg1"/>
                </a:solidFill>
              </a:rPr>
              <a:t>1</a:t>
            </a:r>
            <a:endParaRPr lang="en-US" sz="2600" dirty="0">
              <a:solidFill>
                <a:schemeClr val="bg1"/>
              </a:solidFill>
            </a:endParaRP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React 2: Triggers if Field 3 = </a:t>
            </a:r>
            <a:r>
              <a:rPr lang="en-US" sz="2600" b="1" dirty="0">
                <a:solidFill>
                  <a:schemeClr val="bg1"/>
                </a:solidFill>
              </a:rPr>
              <a:t>2</a:t>
            </a:r>
            <a:endParaRPr lang="en-US" sz="2600" dirty="0">
              <a:solidFill>
                <a:schemeClr val="bg1"/>
              </a:solidFill>
            </a:endParaRPr>
          </a:p>
          <a:p>
            <a:pPr lvl="2"/>
            <a:r>
              <a:rPr lang="en-US" sz="2600" dirty="0">
                <a:solidFill>
                  <a:schemeClr val="bg1"/>
                </a:solidFill>
              </a:rPr>
              <a:t>React 3: Triggers if Field 3 = </a:t>
            </a:r>
            <a:r>
              <a:rPr lang="en-US" sz="2600" b="1" dirty="0">
                <a:solidFill>
                  <a:schemeClr val="bg1"/>
                </a:solidFill>
              </a:rPr>
              <a:t>3</a:t>
            </a:r>
            <a:endParaRPr lang="en-US" sz="2600" dirty="0">
              <a:solidFill>
                <a:schemeClr val="bg1"/>
              </a:solidFill>
            </a:endParaRP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When a React is triggered, it uses the </a:t>
            </a:r>
            <a:r>
              <a:rPr lang="en-US" sz="2600" b="1" dirty="0">
                <a:solidFill>
                  <a:schemeClr val="bg1"/>
                </a:solidFill>
              </a:rPr>
              <a:t>"</a:t>
            </a:r>
            <a:r>
              <a:rPr lang="en-US" sz="2600" b="1" dirty="0" err="1">
                <a:solidFill>
                  <a:schemeClr val="bg1"/>
                </a:solidFill>
              </a:rPr>
              <a:t>ThingHTTP</a:t>
            </a:r>
            <a:r>
              <a:rPr lang="en-US" sz="2600" b="1" dirty="0">
                <a:solidFill>
                  <a:schemeClr val="bg1"/>
                </a:solidFill>
              </a:rPr>
              <a:t>"</a:t>
            </a:r>
            <a:r>
              <a:rPr lang="en-US" sz="2600" dirty="0">
                <a:solidFill>
                  <a:schemeClr val="bg1"/>
                </a:solidFill>
              </a:rPr>
              <a:t> action to send a POST request directly to the Pushbullet API.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This request includes a secret </a:t>
            </a:r>
            <a:r>
              <a:rPr lang="en-US" sz="2600" b="1" dirty="0">
                <a:solidFill>
                  <a:schemeClr val="bg1"/>
                </a:solidFill>
              </a:rPr>
              <a:t>Access Token</a:t>
            </a:r>
            <a:r>
              <a:rPr lang="en-US" sz="2600" dirty="0">
                <a:solidFill>
                  <a:schemeClr val="bg1"/>
                </a:solidFill>
              </a:rPr>
              <a:t> (for authentication) and a JSON "body" that specifies the notification's title and message (e.g., "title": "🔥 GAS LEAK DETECTED!").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The Pushbullet app on the phone receives this API call and displays the notification.</a:t>
            </a:r>
          </a:p>
          <a:p>
            <a:pPr marL="0" indent="0">
              <a:buNone/>
            </a:pPr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296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AF0082-25E1-943F-1DBB-0DEC9B417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IN" sz="4800">
                <a:solidFill>
                  <a:schemeClr val="bg1"/>
                </a:solidFill>
              </a:rPr>
              <a:t>Demonstration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6C58-FF92-117E-503F-E1D4F6864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2581065"/>
            <a:ext cx="5007353" cy="363346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IN" sz="2000" b="1" dirty="0">
                <a:solidFill>
                  <a:schemeClr val="bg1"/>
                </a:solidFill>
              </a:rPr>
              <a:t>Test case 1</a:t>
            </a:r>
            <a:r>
              <a:rPr lang="en-IN" sz="2000" dirty="0">
                <a:solidFill>
                  <a:schemeClr val="bg1"/>
                </a:solidFill>
              </a:rPr>
              <a:t>: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Door Open Alarm (Alarm 1)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Action:</a:t>
            </a:r>
            <a:r>
              <a:rPr lang="en-US" sz="2000" dirty="0">
                <a:solidFill>
                  <a:schemeClr val="bg1"/>
                </a:solidFill>
              </a:rPr>
              <a:t> The LDR sensor is uncovered for 30+ seconds.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Local Result:</a:t>
            </a:r>
            <a:r>
              <a:rPr lang="en-US" sz="2000" dirty="0">
                <a:solidFill>
                  <a:schemeClr val="bg1"/>
                </a:solidFill>
              </a:rPr>
              <a:t> The red LED and buzzer activate.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Cloud Result:</a:t>
            </a:r>
            <a:r>
              <a:rPr lang="en-US" sz="2000" dirty="0">
                <a:solidFill>
                  <a:schemeClr val="bg1"/>
                </a:solidFill>
              </a:rPr>
              <a:t> "Alarm Status" (Field 3) on ThingSpeak changes to </a:t>
            </a:r>
            <a:r>
              <a:rPr lang="en-US" sz="2000" b="1" dirty="0">
                <a:solidFill>
                  <a:schemeClr val="bg1"/>
                </a:solidFill>
              </a:rPr>
              <a:t>1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Mobile Result:</a:t>
            </a:r>
            <a:r>
              <a:rPr lang="en-US" sz="2000" dirty="0">
                <a:solidFill>
                  <a:schemeClr val="bg1"/>
                </a:solidFill>
              </a:rPr>
              <a:t> A Pushbullet notification for "Fridge Door Alert!" is received.</a:t>
            </a: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Thingspeak</a:t>
            </a:r>
            <a:r>
              <a:rPr lang="en-US" sz="2000" b="1" dirty="0">
                <a:solidFill>
                  <a:schemeClr val="bg1"/>
                </a:solidFill>
              </a:rPr>
              <a:t> website</a:t>
            </a:r>
            <a:r>
              <a:rPr lang="en-US" sz="2000" dirty="0">
                <a:solidFill>
                  <a:schemeClr val="bg1"/>
                </a:solidFill>
              </a:rPr>
              <a:t>: Shows real-time updates on charts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A screenshot of a chat&#10;&#10;AI-generated content may be incorrect.">
            <a:extLst>
              <a:ext uri="{FF2B5EF4-FFF2-40B4-BE49-F238E27FC236}">
                <a16:creationId xmlns:a16="http://schemas.microsoft.com/office/drawing/2014/main" id="{561C11B0-A821-24A3-F211-F1DEC1774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2846" y="190293"/>
            <a:ext cx="1521840" cy="34007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6BE9FC0-348A-22CC-67AF-5FA81AC8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386" y="238992"/>
            <a:ext cx="1950964" cy="1212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F5A7BCD-4BCC-ECDA-68EF-CCD3E27905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656" y="1705529"/>
            <a:ext cx="1627137" cy="17510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081ACC6-BAA8-4491-90CD-A662736FA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8465" y="3682095"/>
            <a:ext cx="4667672" cy="30848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88608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15323-F197-6034-5FAB-4B060EA46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F6D7A09-CB13-E885-B1C7-B50D544E3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3DD8A-2975-120D-9A79-C2F4B5A3F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Demonstration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DA15E38-061C-CF0E-1CAD-8F2164A14E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3E46-0C53-297C-3316-114386D53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2581065"/>
            <a:ext cx="5007353" cy="3633467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Test Case 2: </a:t>
            </a:r>
            <a:r>
              <a:rPr lang="en-US" sz="2000" dirty="0">
                <a:solidFill>
                  <a:schemeClr val="bg1"/>
                </a:solidFill>
              </a:rPr>
              <a:t>Spoilage Alarm Test (Alarm 2)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Action:</a:t>
            </a:r>
            <a:r>
              <a:rPr lang="en-US" sz="2000" dirty="0">
                <a:solidFill>
                  <a:schemeClr val="bg1"/>
                </a:solidFill>
              </a:rPr>
              <a:t> A cloth with </a:t>
            </a:r>
            <a:r>
              <a:rPr lang="en-US" sz="2000" b="1" dirty="0">
                <a:solidFill>
                  <a:schemeClr val="bg1"/>
                </a:solidFill>
              </a:rPr>
              <a:t>70% isopropyl alcohol</a:t>
            </a:r>
            <a:r>
              <a:rPr lang="en-US" sz="2000" dirty="0">
                <a:solidFill>
                  <a:schemeClr val="bg1"/>
                </a:solidFill>
              </a:rPr>
              <a:t> is brought near the </a:t>
            </a:r>
            <a:r>
              <a:rPr lang="en-US" sz="2000" b="1" dirty="0">
                <a:solidFill>
                  <a:schemeClr val="bg1"/>
                </a:solidFill>
              </a:rPr>
              <a:t>MQ-3 sensor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Local Result:</a:t>
            </a:r>
            <a:r>
              <a:rPr lang="en-US" sz="2000" dirty="0">
                <a:solidFill>
                  <a:schemeClr val="bg1"/>
                </a:solidFill>
              </a:rPr>
              <a:t> The red LED and buzzer activate instantly.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Cloud Result:</a:t>
            </a:r>
            <a:r>
              <a:rPr lang="en-US" sz="2000" dirty="0">
                <a:solidFill>
                  <a:schemeClr val="bg1"/>
                </a:solidFill>
              </a:rPr>
              <a:t> "Alarm Status" (Field 3) on ThingSpeak changes to </a:t>
            </a:r>
            <a:r>
              <a:rPr lang="en-US" sz="2000" b="1" dirty="0">
                <a:solidFill>
                  <a:schemeClr val="bg1"/>
                </a:solidFill>
              </a:rPr>
              <a:t>2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Mobile Result:</a:t>
            </a:r>
            <a:r>
              <a:rPr lang="en-US" sz="2000" dirty="0">
                <a:solidFill>
                  <a:schemeClr val="bg1"/>
                </a:solidFill>
              </a:rPr>
              <a:t> The notification for </a:t>
            </a:r>
            <a:r>
              <a:rPr lang="en-US" sz="2000" b="1" dirty="0">
                <a:solidFill>
                  <a:schemeClr val="bg1"/>
                </a:solidFill>
              </a:rPr>
              <a:t>"🍎 Food Spoilage Alert!"</a:t>
            </a:r>
            <a:r>
              <a:rPr lang="en-US" sz="2000" dirty="0">
                <a:solidFill>
                  <a:schemeClr val="bg1"/>
                </a:solidFill>
              </a:rPr>
              <a:t> is received.</a:t>
            </a:r>
          </a:p>
          <a:p>
            <a:pPr algn="just"/>
            <a:r>
              <a:rPr lang="en-US" sz="2000" b="1" dirty="0" err="1">
                <a:solidFill>
                  <a:schemeClr val="bg1"/>
                </a:solidFill>
              </a:rPr>
              <a:t>Thingspeak</a:t>
            </a:r>
            <a:r>
              <a:rPr lang="en-US" sz="2000" b="1" dirty="0">
                <a:solidFill>
                  <a:schemeClr val="bg1"/>
                </a:solidFill>
              </a:rPr>
              <a:t> website</a:t>
            </a:r>
            <a:r>
              <a:rPr lang="en-US" sz="2000" dirty="0">
                <a:solidFill>
                  <a:schemeClr val="bg1"/>
                </a:solidFill>
              </a:rPr>
              <a:t>: Shows real-time updates on charts</a:t>
            </a:r>
          </a:p>
          <a:p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FD29471-A4DE-F766-786C-CDFC62A14F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CEE6840-73C4-C57D-2BE1-D2B4B5781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386" y="238992"/>
            <a:ext cx="1950964" cy="1212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B66AD3-D327-D7E2-B276-E1348743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6634" y="3710729"/>
            <a:ext cx="4294722" cy="2757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C9EB71-205A-306B-8445-68CD29A144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3625" y="127065"/>
            <a:ext cx="1547731" cy="3456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F2DB0B-A2DF-320C-F1F7-C2939A343F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9891" y="1587648"/>
            <a:ext cx="1547731" cy="18413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21906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2DC0CD-C158-10AD-E54E-684003142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99E3A921-6432-AED7-7480-F9400C1A5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6095990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42ACEB-E847-DD5E-81B7-A6B44EFD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</a:rPr>
              <a:t>Demonstration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7190DE-2433-A046-9989-4ECEDA002D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556" y="2372156"/>
            <a:ext cx="457200" cy="457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CB895-8AFA-8E00-EFD3-60DBCF167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2581065"/>
            <a:ext cx="5007353" cy="363346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Test Case 3: </a:t>
            </a:r>
            <a:r>
              <a:rPr lang="en-US" sz="2000" dirty="0">
                <a:solidFill>
                  <a:schemeClr val="bg1"/>
                </a:solidFill>
              </a:rPr>
              <a:t>System Reset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Action:</a:t>
            </a:r>
            <a:r>
              <a:rPr lang="en-US" sz="2000" dirty="0">
                <a:solidFill>
                  <a:schemeClr val="bg1"/>
                </a:solidFill>
              </a:rPr>
              <a:t> All alarm conditions are removed (door closed, gas removed).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Local Result:</a:t>
            </a:r>
            <a:r>
              <a:rPr lang="en-US" sz="2000" dirty="0">
                <a:solidFill>
                  <a:schemeClr val="bg1"/>
                </a:solidFill>
              </a:rPr>
              <a:t> The red LED and buzzer turn off. The green "System OK" LED turns on.</a:t>
            </a:r>
          </a:p>
          <a:p>
            <a:pPr algn="just"/>
            <a:r>
              <a:rPr lang="en-US" sz="2000" b="1" dirty="0">
                <a:solidFill>
                  <a:schemeClr val="bg1"/>
                </a:solidFill>
              </a:rPr>
              <a:t>Cloud Result:</a:t>
            </a:r>
            <a:r>
              <a:rPr lang="en-US" sz="2000" dirty="0">
                <a:solidFill>
                  <a:schemeClr val="bg1"/>
                </a:solidFill>
              </a:rPr>
              <a:t> "Alarm Status" (Field 3) on ThingSpeak changes back to </a:t>
            </a:r>
            <a:r>
              <a:rPr lang="en-US" sz="2000" b="1" dirty="0">
                <a:solidFill>
                  <a:schemeClr val="bg1"/>
                </a:solidFill>
              </a:rPr>
              <a:t>0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0167FB-307B-7DD5-A360-7358C29F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5990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4046D00-193C-05AC-63A6-73F829CCA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759" y="258426"/>
            <a:ext cx="1950964" cy="12124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F5B198-481A-5C78-3E6C-6305A52A8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5813" y="238992"/>
            <a:ext cx="2536728" cy="173523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1A45E0-0DEC-B7D2-7D17-5FC66A3AF4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407045" y="1856342"/>
            <a:ext cx="1826392" cy="14494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B70E7E7-FD44-D9D1-4659-6119109ED1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4001" y="3735642"/>
            <a:ext cx="4310698" cy="286393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C44736-9A95-D728-AE05-3F901F15E9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793" y="2029333"/>
            <a:ext cx="2023934" cy="170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93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565496-D0D3-07B3-FE63-F9F44949D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just"/>
            <a:r>
              <a:rPr lang="en-IN" dirty="0">
                <a:solidFill>
                  <a:schemeClr val="bg1"/>
                </a:solidFill>
              </a:rPr>
              <a:t>Conclusion &amp; Future 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76B0C-9462-5453-F71F-339D27C69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297" y="2141533"/>
            <a:ext cx="5440752" cy="4318257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000" b="1" dirty="0">
                <a:solidFill>
                  <a:schemeClr val="bg1"/>
                </a:solidFill>
              </a:rPr>
              <a:t>Conclusion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This project successfully demonstrates a </a:t>
            </a:r>
            <a:r>
              <a:rPr lang="en-US" sz="2000" b="1" dirty="0">
                <a:solidFill>
                  <a:schemeClr val="bg1"/>
                </a:solidFill>
              </a:rPr>
              <a:t>viable proof-of-concept</a:t>
            </a:r>
            <a:r>
              <a:rPr lang="en-US" sz="2000" dirty="0">
                <a:solidFill>
                  <a:schemeClr val="bg1"/>
                </a:solidFill>
              </a:rPr>
              <a:t> for a multi-sensor IoT monitoring system.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The core objectives were met- we successfully integrated sensors to </a:t>
            </a:r>
            <a:r>
              <a:rPr lang="en-US" sz="2000" b="1" dirty="0">
                <a:solidFill>
                  <a:schemeClr val="bg1"/>
                </a:solidFill>
              </a:rPr>
              <a:t>log environmental data</a:t>
            </a:r>
            <a:r>
              <a:rPr lang="en-US" sz="2000" dirty="0">
                <a:solidFill>
                  <a:schemeClr val="bg1"/>
                </a:solidFill>
              </a:rPr>
              <a:t> to the ThingSpeak cloud and built an event-driven system to send </a:t>
            </a:r>
            <a:r>
              <a:rPr lang="en-US" sz="2000" b="1" dirty="0">
                <a:solidFill>
                  <a:schemeClr val="bg1"/>
                </a:solidFill>
              </a:rPr>
              <a:t>immediate, prioritized mobile alerts</a:t>
            </a:r>
            <a:r>
              <a:rPr lang="en-US" sz="2000" dirty="0">
                <a:solidFill>
                  <a:schemeClr val="bg1"/>
                </a:solidFill>
              </a:rPr>
              <a:t> using Pushbullet.</a:t>
            </a:r>
          </a:p>
          <a:p>
            <a:pPr algn="just"/>
            <a:r>
              <a:rPr lang="en-US" sz="2000" dirty="0">
                <a:solidFill>
                  <a:schemeClr val="bg1"/>
                </a:solidFill>
              </a:rPr>
              <a:t>This prototype confirms that the chosen architecture (ESP32, cloud services) is an effective and low-cost foundation for a smart monitoring solution. The project successfully simulates the system's core logic and lays the groundwork for the future R&amp;D needed to move from a prototype to a finished product.</a:t>
            </a:r>
          </a:p>
          <a:p>
            <a:pPr algn="just"/>
            <a:endParaRPr lang="en-IN" sz="2000" dirty="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4F9750-1732-EB5F-7467-83EE0BDC0682}"/>
              </a:ext>
            </a:extLst>
          </p:cNvPr>
          <p:cNvSpPr txBox="1"/>
          <p:nvPr/>
        </p:nvSpPr>
        <p:spPr>
          <a:xfrm>
            <a:off x="6378953" y="448330"/>
            <a:ext cx="5319252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solidFill>
                  <a:schemeClr val="bg1"/>
                </a:solidFill>
              </a:rPr>
              <a:t>Future Work</a:t>
            </a:r>
          </a:p>
          <a:p>
            <a:pPr algn="just"/>
            <a:r>
              <a:rPr lang="en-US" b="1" dirty="0">
                <a:solidFill>
                  <a:schemeClr val="bg1"/>
                </a:solidFill>
              </a:rPr>
              <a:t>	-Path from Prototype to Product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Sensor Enhancement: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Explore more reliable door sensors, like a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magnetic reed switch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or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IR proximity sensor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Integrate an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MQ-135 Air Quality Sensor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to detect a wider range of spoilage-related gases (like ammonia and sulfides).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Hardware Optimization: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Investigate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lower-power Wi-Fi microcontrollers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to reduce energy consumption and make a battery-powered version feasible.</a:t>
            </a:r>
          </a:p>
          <a:p>
            <a:pPr marL="342900" lvl="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Design and 3D print a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custom, compact, and food-safe enclosure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to house the final PCB and sensors.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Next-Generation Sensing: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	Research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tailor-made sensors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(e.g., using nanotechnology) that are highly sensitive to the precise volatile organic compounds (VOCs) released by food spoilage.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Software &amp; App Development:</a:t>
            </a:r>
            <a:endParaRPr lang="en-US" altLang="en-US" sz="160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	Replace Pushbullet with a </a:t>
            </a:r>
            <a:r>
              <a:rPr lang="en-US" altLang="en-US" sz="1600" b="1" dirty="0">
                <a:solidFill>
                  <a:schemeClr val="bg1"/>
                </a:solidFill>
                <a:latin typeface="Arial" panose="020B0604020202020204" pitchFamily="34" charset="0"/>
              </a:rPr>
              <a:t>dedicated mobile application</a:t>
            </a:r>
            <a:r>
              <a:rPr lang="en-US" altLang="en-US" sz="1600" dirty="0">
                <a:solidFill>
                  <a:schemeClr val="bg1"/>
                </a:solidFill>
                <a:latin typeface="Arial" panose="020B0604020202020204" pitchFamily="34" charset="0"/>
              </a:rPr>
              <a:t> (using a backend like Firebase) to create a professional user interface and add more features (e.g., data history, settings).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4944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494</TotalTime>
  <Words>1369</Words>
  <Application>Microsoft Office PowerPoint</Application>
  <PresentationFormat>Widescreen</PresentationFormat>
  <Paragraphs>136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Google Sans Text</vt:lpstr>
      <vt:lpstr>Office Theme</vt:lpstr>
      <vt:lpstr>IoT Smart Monitoring System for Refrigeration</vt:lpstr>
      <vt:lpstr>Project Objective</vt:lpstr>
      <vt:lpstr>Components Used</vt:lpstr>
      <vt:lpstr>System Architecture</vt:lpstr>
      <vt:lpstr>Hardware Implementation: Wiring</vt:lpstr>
      <vt:lpstr>System Logic &amp; Thresholds</vt:lpstr>
      <vt:lpstr>Cloud Integration: ThingSpeak</vt:lpstr>
      <vt:lpstr>Real-Time Alerts: Pushbullet</vt:lpstr>
      <vt:lpstr>Demonstration</vt:lpstr>
      <vt:lpstr>Demonstration</vt:lpstr>
      <vt:lpstr>Demonstration</vt:lpstr>
      <vt:lpstr>Conclusion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Vamsee Krishna CH</dc:creator>
  <cp:lastModifiedBy>Vamsee Krishna CH</cp:lastModifiedBy>
  <cp:revision>5</cp:revision>
  <dcterms:created xsi:type="dcterms:W3CDTF">2025-11-03T09:16:48Z</dcterms:created>
  <dcterms:modified xsi:type="dcterms:W3CDTF">2026-04-17T18:49:50Z</dcterms:modified>
</cp:coreProperties>
</file>